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914400" y="1097280"/>
            <a:ext cx="10362895" cy="466344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448495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НАУЧНО-ИНЖЕНЕРНАЯ ЗАЩИТА ПРОЕКТА</a:t>
            </a:r>
          </a:p>
          <a:p>
            <a:pPr>
              <a:defRPr sz="3200" b="1">
                <a:solidFill>
                  <a:srgbClr val="F0F6FC"/>
                </a:solidFill>
                <a:latin typeface="Segoe UI"/>
              </a:defRPr>
            </a:pPr>
            <a:r>
              <a:t>Unsolicited Non-Paged Driver (UNPD)</a:t>
            </a:r>
          </a:p>
          <a:p>
            <a:pPr>
              <a:spcBef>
                <a:spcPts val="800"/>
              </a:spcBef>
              <a:spcAft>
                <a:spcPts val="2800"/>
              </a:spcAft>
              <a:defRPr sz="1600">
                <a:solidFill>
                  <a:srgbClr val="06B6D4"/>
                </a:solidFill>
                <a:latin typeface="Segoe UI"/>
              </a:defRPr>
            </a:pPr>
            <a:r>
              <a:t>Отказоустойчивый C++20 фреймворк драйвера режима ядра Windows NT x64,</a:t>
            </a:r>
            <a:br/>
            <a:r>
              <a:t>полиморфное управление памятью и 4-уровневый эмулятор MMU</a:t>
            </a:r>
          </a:p>
          <a:p>
            <a:pPr>
              <a:defRPr sz="1200">
                <a:solidFill>
                  <a:srgbClr val="94A3B8"/>
                </a:solidFill>
                <a:latin typeface="Segoe UI"/>
              </a:defRPr>
            </a:pPr>
            <a:r>
              <a:t>Автор / Докладчик: EvilEmployer  |  Ветка: rework/production-kernel-v2  |  Статус: Production Ready (Verified)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1. Актуальность, Проблематика и Научные Цели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⚠️ Проблематика разработки Ring-0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7548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• C-Style Архаизмы: </a:t>
            </a:r>
            <a:r>
              <a:rPr b="0">
                <a:solidFill>
                  <a:srgbClr val="94A3B8"/>
                </a:solidFill>
              </a:rPr>
              <a:t>Фрагментированный код без RAII приводит к утечкам пула памяти (Pool Leaks) и UAF-уязвимостям.</a:t>
            </a:r>
          </a:p>
          <a:p>
            <a:pPr>
              <a:spcAft>
                <a:spcPts val="8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• Запрет STL/Исключений в Ядре: </a:t>
            </a:r>
            <a:r>
              <a:rPr b="0">
                <a:solidFill>
                  <a:srgbClr val="94A3B8"/>
                </a:solidFill>
              </a:rPr>
              <a:t>Невозможность использовать стандартные C++ контейнеры и RTTI в режиме ядра Windows NT.</a:t>
            </a:r>
          </a:p>
          <a:p>
            <a:pPr>
              <a:spcAft>
                <a:spcPts val="8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• Сложность Модульного Тестирования: </a:t>
            </a:r>
            <a:r>
              <a:rPr b="0">
                <a:solidFill>
                  <a:srgbClr val="94A3B8"/>
                </a:solidFill>
              </a:rPr>
              <a:t>Необходимость физической виртуальной машины и WinDbg для тестирования трансляции страниц (PML4).</a:t>
            </a:r>
          </a:p>
          <a:p>
            <a:pPr>
              <a:spcAft>
                <a:spcPts val="8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• Уязвимость к BSOD (BugChecks): </a:t>
            </a:r>
            <a:r>
              <a:rPr b="0">
                <a:solidFill>
                  <a:srgbClr val="94A3B8"/>
                </a:solidFill>
              </a:rPr>
              <a:t>Ошибки IRQL (0x0A, 0xD1) и Page Faults (0x50) при некорректном разборе структур.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✅ Решения, внедренные в UNPD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2024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Freestanding C++20 Ядро (kstd): </a:t>
            </a:r>
            <a:r>
              <a:rPr b="0">
                <a:solidFill>
                  <a:srgbClr val="94A3B8"/>
                </a:solidFill>
              </a:rPr>
              <a:t>Собственные реализации span, expected, unique_ptr и концептов без CRT/STL.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Полиморфная память (IMemoryEngine): </a:t>
            </a:r>
            <a:r>
              <a:rPr b="0">
                <a:solidFill>
                  <a:srgbClr val="94A3B8"/>
                </a:solidFill>
              </a:rPr>
              <a:t>Унификация MDL Zero-Copy, 4-классовых Lookaside слэбов, пула и Neither I/O.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4-Уровневый разбор MMU x86-64: </a:t>
            </a:r>
            <a:r>
              <a:rPr b="0">
                <a:solidFill>
                  <a:srgbClr val="94A3B8"/>
                </a:solidFill>
              </a:rPr>
              <a:t>CR3 Walker с поддержкой 1GB Huge, 2MB Large и 4KB Small страниц + Page Clamping.</a:t>
            </a:r>
          </a:p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• Virtual MMU 64MB Sandbox: </a:t>
            </a:r>
            <a:r>
              <a:rPr b="0">
                <a:solidFill>
                  <a:srgbClr val="94A3B8"/>
                </a:solidFill>
              </a:rPr>
              <a:t>Автономный эмулятор физической памяти и TLB с генерацией #PF в CI без гипервизора.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2. Сквозная Монолитная Архитектура Системы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146304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🖥️ User-Mode Client SDK (include/unpd/client.hpp)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0F6FC"/>
                </a:solidFill>
                <a:latin typeface="Segoe UI"/>
              </a:defRPr>
            </a:pPr>
            <a:r>
              <a:t>• DriverClient: 16 строго типизированных C++20 методов (read/write CR3, queue APC, clean PiDDB, map memory, slabs, ping)</a:t>
            </a:r>
            <a:br/>
            <a:r>
              <a:t>• SharedRingSession: Высокоуровневый RAII-контейнер для lockless кольцевого канала с поддержкой Mock Loopback в CI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017520"/>
            <a:ext cx="10698480" cy="18288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54679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⚙️ Ring-0 IRP Dispatch Router &amp; Kernel Core (src/driver/)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74720"/>
            <a:ext cx="103327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0F6FC"/>
                </a:solidFill>
                <a:latin typeface="Segoe UI"/>
              </a:defRPr>
            </a:pPr>
            <a:r>
              <a:t>• 16 IOCTL Кодов (0x800..0x80F): Полная SEH-изоляция (__try/__except), ProbeForRead/Write, 16MB буферный лимит</a:t>
            </a:r>
            <a:br/>
            <a:r>
              <a:t>• IMemoryEngine Hierarchy: MdlMemoryEngine (Zero-Copy), SlabMemoryEngine (Lookaside), PoolMemoryEngine (Tracked)</a:t>
            </a:r>
            <a:br/>
            <a:r>
              <a:t>• MMU Paging Engine &amp; Cr3Walker: Прямой 4-уровневый разбор таблиц страниц PML4 -&gt; PDPTE -&gt; PDE -&gt; PTE</a:t>
            </a:r>
            <a:br/>
            <a:r>
              <a:t>• KernelApc &amp; StealthCleaners: Асинхронные APC с Rundown-защитой, AVL-ребалансировка PiDDBCacheTable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029200"/>
            <a:ext cx="10698480" cy="128016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66360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⚡ Hardware Assembly Layer (MASM64 / x86-64)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3327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F0F6FC"/>
                </a:solidFill>
                <a:latin typeface="Segoe UI"/>
              </a:defRPr>
            </a:pPr>
            <a:r>
              <a:t>• Инвалидация TLB (invlpg, wbinvd, CR3 reload)  |  Аппаратный SSE4.2 CRC32 (crc32 rax, rdx)  |  Барьеры памяти (mfence, lfence, sfence)</a:t>
            </a:r>
            <a:br/>
            <a:r>
              <a:t>• Доступ к управляющим регистрам (CR0..CR8, DR0..DR7, XCR0, IA32_EFER, IDTR, GDTR, TR)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3. Freestanding C++20 Библиотека Ядра (unpd::kstd)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📦 kstd::span&lt;T&gt;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0F6FC"/>
                </a:solidFill>
              </a:defRPr>
            </a:pPr>
            <a:r>
              <a:t>• Непрерывное представление среза памяти без владения</a:t>
            </a:r>
            <a:br/>
            <a:r>
              <a:t>• Полный набор итераторов (begin, end, rbegin, rend)</a:t>
            </a:r>
            <a:br/>
            <a:r>
              <a:t>• Безопасное разделение (subspan, first, last) с проверкой границ</a:t>
            </a:r>
            <a:br/>
            <a:r>
              <a:t>• Полная совместимость с буферами ядра и MDL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🛡️ kstd::expected&lt;T, NTSTATUS&gt;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0F6FC"/>
                </a:solidFill>
              </a:defRPr>
            </a:pPr>
            <a:r>
              <a:t>• Монадический контейнер значения или статуса ошибки</a:t>
            </a:r>
            <a:br/>
            <a:r>
              <a:t>• Заменяет механизм C++ исключений, запрещенный в Ring-0</a:t>
            </a:r>
            <a:br/>
            <a:r>
              <a:t>• Методы has_value(), value(), error(), value_or(fallback)</a:t>
            </a:r>
            <a:br/>
            <a:r>
              <a:t>• Специализация kstd::expected&lt;void, E&gt; для процедур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💎 kstd::unique_ptr&lt;T, Tag&gt;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47548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0F6FC"/>
                </a:solidFill>
              </a:defRPr>
            </a:pPr>
            <a:r>
              <a:t>• Умный указатель с автоматическим освобождением пула</a:t>
            </a:r>
            <a:br/>
            <a:r>
              <a:t>• Вызов ExFreePoolWithTag при выходе из области видимости</a:t>
            </a:r>
            <a:br/>
            <a:r>
              <a:t>• Запрет копирования, полная поддержка перемещения (Move-only)</a:t>
            </a:r>
            <a:br/>
            <a:r>
              <a:t>• Исключает утечки невыгружаемого пула при ранних возвратах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🧩 C++20 Concepts (Концепты времени компиляции)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89120"/>
            <a:ext cx="4846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0F6FC"/>
                </a:solidFill>
              </a:defRPr>
            </a:pPr>
            <a:r>
              <a:t>• integral&lt;T&gt;: Ограничение целочисленных аргументов</a:t>
            </a:r>
            <a:br/>
            <a:r>
              <a:t>• pointer&lt;T&gt;: Проверка указательных типов</a:t>
            </a:r>
            <a:br/>
            <a:r>
              <a:t>• same_as&lt;T, U&gt;: Строгая эквивалентность типов</a:t>
            </a:r>
            <a:br/>
            <a:r>
              <a:t>• trivially_copyable&lt;T&gt;: Безопасность memcpy в драйвере</a:t>
            </a:r>
            <a:br/>
            <a:r>
              <a:t>• invocable&lt;F, Args...&gt;: Проверка сигнатур callback-функций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4. 4-Уровневый Разбор MMU x86-64 и CR3 Walker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📐 Спецификация трансляции виртуального адреса (48-bit Canonical)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200" b="1">
                <a:solidFill>
                  <a:srgbClr val="10B981"/>
                </a:solidFill>
                <a:latin typeface="Segoe UI"/>
              </a:defRPr>
            </a:pPr>
            <a:r>
              <a:t>Иерархия трансляции: PML4E [47:39] ➔ PDPTE [38:30] ➔ PDE [29:21] ➔ PTE [20:12] ➔ Page Offset [11:0]</a:t>
            </a:r>
          </a:p>
          <a:p>
            <a:pPr>
              <a:spcAft>
                <a:spcPts val="600"/>
              </a:spcAft>
              <a:defRPr sz="1050" b="1">
                <a:solidFill>
                  <a:srgbClr val="F0F6FC"/>
                </a:solidFill>
                <a:latin typeface="Segoe UI"/>
              </a:defRPr>
            </a:pPr>
            <a:r>
              <a:t>• Проверка каноничности адреса (IsCanonical): </a:t>
            </a:r>
            <a:r>
              <a:rPr b="0">
                <a:solidFill>
                  <a:srgbClr val="94A3B8"/>
                </a:solidFill>
              </a:rPr>
              <a:t>Верификация знакового расширения 48-го бита на биты [48..63]. Предотвращает немедленный аппаратный сбой #GP при некорректных адресах.</a:t>
            </a:r>
          </a:p>
          <a:p>
            <a:pPr>
              <a:spcAft>
                <a:spcPts val="600"/>
              </a:spcAft>
              <a:defRPr sz="1050" b="1">
                <a:solidFill>
                  <a:srgbClr val="F0F6FC"/>
                </a:solidFill>
                <a:latin typeface="Segoe UI"/>
              </a:defRPr>
            </a:pPr>
            <a:r>
              <a:t>• 1GB Huge Pages (PDPTE.LargePage = 1): </a:t>
            </a:r>
            <a:r>
              <a:rPr b="0">
                <a:solidFill>
                  <a:srgbClr val="94A3B8"/>
                </a:solidFill>
              </a:rPr>
              <a:t>Физический адрес = (PDPTE &amp; 0x000FFFFFC0000000) | (VA &amp; 0x3FFFFFFF). Мгновенная трансляция без прохода уровней PDE/PTE.</a:t>
            </a:r>
          </a:p>
          <a:p>
            <a:pPr>
              <a:spcAft>
                <a:spcPts val="600"/>
              </a:spcAft>
              <a:defRPr sz="1050" b="1">
                <a:solidFill>
                  <a:srgbClr val="F0F6FC"/>
                </a:solidFill>
                <a:latin typeface="Segoe UI"/>
              </a:defRPr>
            </a:pPr>
            <a:r>
              <a:t>• 2MB Large Pages (PDE.LargePage = 1): </a:t>
            </a:r>
            <a:r>
              <a:rPr b="0">
                <a:solidFill>
                  <a:srgbClr val="94A3B8"/>
                </a:solidFill>
              </a:rPr>
              <a:t>Физический адрес = (PDE &amp; 0x000FFFFFFFE00000) | (VA &amp; 0x1FFFFF).</a:t>
            </a:r>
          </a:p>
          <a:p>
            <a:pPr>
              <a:spcAft>
                <a:spcPts val="600"/>
              </a:spcAft>
              <a:defRPr sz="1050" b="1">
                <a:solidFill>
                  <a:srgbClr val="F0F6FC"/>
                </a:solidFill>
                <a:latin typeface="Segoe UI"/>
              </a:defRPr>
            </a:pPr>
            <a:r>
              <a:t>• 4KB Small Pages (Стандартный PTE): </a:t>
            </a:r>
            <a:r>
              <a:rPr b="0">
                <a:solidFill>
                  <a:srgbClr val="94A3B8"/>
                </a:solidFill>
              </a:rPr>
              <a:t>Физический адрес = (PTE &amp; 0x000FFFFFFFFFF000) | (VA &amp; 0xFFF).</a:t>
            </a:r>
          </a:p>
          <a:p>
            <a:pPr>
              <a:spcAft>
                <a:spcPts val="600"/>
              </a:spcAft>
              <a:defRPr sz="1050" b="1">
                <a:solidFill>
                  <a:srgbClr val="F0F6FC"/>
                </a:solidFill>
                <a:latin typeface="Segoe UI"/>
              </a:defRPr>
            </a:pPr>
            <a:r>
              <a:t>• Page-Boundary Clamping (Чанкинг границ): </a:t>
            </a:r>
            <a:r>
              <a:rPr b="0">
                <a:solidFill>
                  <a:srgbClr val="94A3B8"/>
                </a:solidFill>
              </a:rPr>
              <a:t>Размер копируемого фрагмента строго ограничен границей текущей 4KB страницы: chunk = min(remaining, 4096 - (VA &amp; 0xFFF)). Полностью исключает выход за пределы страницы в невыделенную физическую память.</a:t>
            </a:r>
          </a:p>
          <a:p>
            <a:pPr>
              <a:spcAft>
                <a:spcPts val="600"/>
              </a:spcAft>
              <a:defRPr sz="1050" b="1">
                <a:solidFill>
                  <a:srgbClr val="F0F6FC"/>
                </a:solidFill>
                <a:latin typeface="Segoe UI"/>
              </a:defRPr>
            </a:pPr>
            <a:r>
              <a:t>• RAII PhysicalMemoryMapping&lt;T&gt;: </a:t>
            </a:r>
            <a:r>
              <a:rPr b="0">
                <a:solidFill>
                  <a:srgbClr val="94A3B8"/>
                </a:solidFill>
              </a:rPr>
              <a:t>Инкапсулирует MmMapIoSpace/MmUnmapIoSpace с гарантированным освобождением маппинга при выходе из скоупа.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5. Lockless Shared Memory Channel &amp; Double Buffering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⚡ Структура кольца и кэш-линии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>
                <a:solidFill>
                  <a:srgbClr val="F0F6FC"/>
                </a:solidFill>
              </a:defRPr>
            </a:pPr>
            <a:r>
              <a:t>• alignas(64) Разделение:</a:t>
            </a:r>
            <a:br/>
            <a:r>
              <a:t>  Указатели RequestHead/RequestTail и ResponseHead/ResponseTail разнесены по разным 64-байтовым кэш-линиям процессора, исключая эффект False Sharing между ядрами.</a:t>
            </a:r>
            <a:br/>
            <a:br/>
            <a:r>
              <a:t>• Аппаратные барьеры памяти:</a:t>
            </a:r>
            <a:br/>
            <a:r>
              <a:t>  - Чтение: UnpdLoadFence (_mm_lfence)</a:t>
            </a:r>
            <a:br/>
            <a:r>
              <a:t>  - Запись: UnpdStoreFence (_mm_sfence)</a:t>
            </a:r>
            <a:br/>
            <a:r>
              <a:t>  - Свап буферов: UnpdFastSwapBarrier (mfence)</a:t>
            </a:r>
            <a:br/>
            <a:br/>
            <a:r>
              <a:t>• Lockless Ring Wrap-Around:</a:t>
            </a:r>
            <a:br/>
            <a:r>
              <a:t>  slot = tail % SHARED_RING_CAPACITY</a:t>
            </a:r>
            <a:br/>
            <a:r>
              <a:t>  Контроль переполнения: (head - tail) &gt;= CAPACITY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📊 Метрики производительности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100" b="1">
                <a:solidFill>
                  <a:srgbClr val="10B981"/>
                </a:solidFill>
                <a:latin typeface="Segoe UI"/>
              </a:defRPr>
            </a:pPr>
            <a:r>
              <a:t>Результаты микропрофилирования (bench_latency.py, 2000 итераций):</a:t>
            </a:r>
            <a:br/>
          </a:p>
          <a:p>
            <a:pPr>
              <a:spcAft>
                <a:spcPts val="600"/>
              </a:spcAft>
              <a:defRPr sz="1000" b="1">
                <a:solidFill>
                  <a:srgbClr val="F0F6FC"/>
                </a:solidFill>
                <a:latin typeface="Segoe UI"/>
              </a:defRPr>
            </a:pPr>
            <a:r>
              <a:t>• IOCTL Ping Roundtrip:</a:t>
            </a:r>
            <a:br/>
            <a:r>
              <a:t>  </a:t>
            </a:r>
            <a:r>
              <a:rPr b="0">
                <a:solidFill>
                  <a:srgbClr val="06B6D4"/>
                </a:solidFill>
              </a:rPr>
              <a:t>Min: 0.30 µs  |  Mean: 0.39 µs  |  P95: 0.40 µs  |  P99: 0.60 µs</a:t>
            </a:r>
          </a:p>
          <a:p>
            <a:pPr>
              <a:spcAft>
                <a:spcPts val="600"/>
              </a:spcAft>
              <a:defRPr sz="1000" b="1">
                <a:solidFill>
                  <a:srgbClr val="F0F6FC"/>
                </a:solidFill>
                <a:latin typeface="Segoe UI"/>
              </a:defRPr>
            </a:pPr>
            <a:r>
              <a:t>• Atomic Double-Buffer Swap:</a:t>
            </a:r>
            <a:br/>
            <a:r>
              <a:t>  </a:t>
            </a:r>
            <a:r>
              <a:rPr b="0">
                <a:solidFill>
                  <a:srgbClr val="06B6D4"/>
                </a:solidFill>
              </a:rPr>
              <a:t>Min: 4.30 µs  |  Mean: 4.44 µs  |  P95: 4.60 µs  |  P99: 5.10 µs</a:t>
            </a:r>
          </a:p>
          <a:p>
            <a:pPr>
              <a:spcAft>
                <a:spcPts val="600"/>
              </a:spcAft>
              <a:defRPr sz="1000" b="1">
                <a:solidFill>
                  <a:srgbClr val="F0F6FC"/>
                </a:solidFill>
                <a:latin typeface="Segoe UI"/>
              </a:defRPr>
            </a:pPr>
            <a:r>
              <a:t>• Kernel Shared Memory Map:</a:t>
            </a:r>
            <a:br/>
            <a:r>
              <a:t>  </a:t>
            </a:r>
            <a:r>
              <a:rPr b="0">
                <a:solidFill>
                  <a:srgbClr val="06B6D4"/>
                </a:solidFill>
              </a:rPr>
              <a:t>Min: 0.40 µs  |  Mean: 0.47 µs  |  P95: 0.50 µs  |  P99: 0.70 µs</a:t>
            </a:r>
          </a:p>
          <a:p>
            <a:pPr>
              <a:spcAft>
                <a:spcPts val="600"/>
              </a:spcAft>
              <a:defRPr sz="1000" b="1">
                <a:solidFill>
                  <a:srgbClr val="F0F6FC"/>
                </a:solidFill>
                <a:latin typeface="Segoe UI"/>
              </a:defRPr>
            </a:pPr>
            <a:r>
              <a:t>• Пропускная способность:</a:t>
            </a:r>
            <a:br/>
            <a:r>
              <a:t>  </a:t>
            </a:r>
            <a:r>
              <a:rPr b="0">
                <a:solidFill>
                  <a:srgbClr val="06B6D4"/>
                </a:solidFill>
              </a:rPr>
              <a:t>Zero-Copy кольцо обеспечивает обмен пакетами на субмикросекундных задержках без переключения контекста IRQL.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6. Полиморфная Архитектура Памяти (IMemoryEngine)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1. MdlMemoryEngine (Zero-Copy)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47548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• Выделение физических страниц (MmAllocatePagesForMdlEx)</a:t>
            </a:r>
            <a:br/>
            <a:r>
              <a:t>• Отображение в процесс (MmMapLockedPagesSpecifyCache)</a:t>
            </a:r>
            <a:br/>
            <a:r>
              <a:t>• Флаг MdlMappingNoExecute (защита DEP)</a:t>
            </a:r>
            <a:br/>
            <a:r>
              <a:t>• Безопасный анмаппинг через ProcessAttachmentGuard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21208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0876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2. SlabMemoryEngine (Lookaside Caches)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828800"/>
            <a:ext cx="4846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• O(1) Lookaside-списки (NPAGED_LOOKASIDE_LIST)</a:t>
            </a:r>
            <a:br/>
            <a:r>
              <a:t>• 4 Класса фиксированных блоков: 64B, 256B, 1024B, 4096B</a:t>
            </a:r>
            <a:br/>
            <a:r>
              <a:t>• Выделенные тэги пула: '1LSU', '2LSU', '3LSU', '4LSU'</a:t>
            </a:r>
            <a:br/>
            <a:r>
              <a:t>• Минимальная фрагментация памяти ядра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512064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69080"/>
            <a:ext cx="47548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3. PoolMemoryEngine (Tracked NonPaged)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389120"/>
            <a:ext cx="475488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• Выделение NonPagedPoolNx через ExAllocatePool2</a:t>
            </a:r>
            <a:br/>
            <a:r>
              <a:t>• Таблица 64-битных дескрипторов аллокаций</a:t>
            </a:r>
            <a:br/>
            <a:r>
              <a:t>• Отслеживание активных аллокаций и телеметрия объема</a:t>
            </a:r>
            <a:br/>
            <a:r>
              <a:t>• Полная защита спинлоками KeAcquireSpinLock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931920"/>
            <a:ext cx="5212080" cy="228600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40690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4. DirectNeitherEngine (SEH Probed)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4389120"/>
            <a:ext cx="48463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• Обработка буферов METHOD_NEITHER и METHOD_IN_DIRECT</a:t>
            </a:r>
            <a:br/>
            <a:r>
              <a:t>• Проверка указателей ProbeForRead / ProbeForWrite</a:t>
            </a:r>
            <a:br/>
            <a:r>
              <a:t>• Изоляция всех обращений в блоках __try / __except</a:t>
            </a:r>
            <a:br/>
            <a:r>
              <a:t>• Исключение системных сбоев при краше юзермода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7. Доказательство Отказоустойчивости (Zero-BSOD Invariants)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6984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1033271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🛡️ Матрица нейтрализации системных сбоев ядра Windows (BugCheck Defense)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828800"/>
            <a:ext cx="103327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  <a:latin typeface="Segoe UI"/>
              </a:defRPr>
            </a:pPr>
            <a:r>
              <a:t>• 0x0A / 0xD1 (IRQL_NOT_LESS_OR_EQUAL): </a:t>
            </a:r>
            <a:r>
              <a:rPr b="0">
                <a:solidFill>
                  <a:srgbClr val="94A3B8"/>
                </a:solidFill>
              </a:rPr>
              <a:t>Все пулы памяти и структуры данных строго аллоцируются с флагом POOL_FLAG_NON_PAGED. Код, исполняемый на DISPATCH_LEVEL, никогда не обращается к выгружаемой (Paged) памяти.</a:t>
            </a:r>
          </a:p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  <a:latin typeface="Segoe UI"/>
              </a:defRPr>
            </a:pPr>
            <a:r>
              <a:t>• 0x1E (KMODE_EXCEPTION_NOT_HANDLED): </a:t>
            </a:r>
            <a:r>
              <a:rPr b="0">
                <a:solidFill>
                  <a:srgbClr val="94A3B8"/>
                </a:solidFill>
              </a:rPr>
              <a:t>Все операции с пользовательскими указателями и чтение дескрипторов защищены Structured Exception Handling (__try / __except (EXCEPTION_EXECUTE_HANDLER)).</a:t>
            </a:r>
          </a:p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  <a:latin typeface="Segoe UI"/>
              </a:defRPr>
            </a:pPr>
            <a:r>
              <a:t>• 0x3B (SYSTEM_SERVICE_EXCEPTION): </a:t>
            </a:r>
            <a:r>
              <a:rPr b="0">
                <a:solidFill>
                  <a:srgbClr val="94A3B8"/>
                </a:solidFill>
              </a:rPr>
              <a:t>Валидация выравнивания адресов и обязательный вызов ProbeForRead / ProbeForWrite перед любым доступом к пользовательским буферам.</a:t>
            </a:r>
          </a:p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  <a:latin typeface="Segoe UI"/>
              </a:defRPr>
            </a:pPr>
            <a:r>
              <a:t>• 0x50 (PAGE_FAULT_IN_NONPAGED_AREA): </a:t>
            </a:r>
            <a:r>
              <a:rPr b="0">
                <a:solidFill>
                  <a:srgbClr val="94A3B8"/>
                </a:solidFill>
              </a:rPr>
              <a:t>Проверка каноничности адреса IsCanonical() и побайтовое ограничение размера каждого трансфера до конца текущей 4KB-страницы (Page-Boundary Clamping).</a:t>
            </a:r>
          </a:p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  <a:latin typeface="Segoe UI"/>
              </a:defRPr>
            </a:pPr>
            <a:r>
              <a:t>• 0x7E (SYSTEM_THREAD_EXCEPTION): </a:t>
            </a:r>
            <a:r>
              <a:rPr b="0">
                <a:solidFill>
                  <a:srgbClr val="94A3B8"/>
                </a:solidFill>
              </a:rPr>
              <a:t>Обработчик KernelApcRundown гарантирует вызов ExFreePoolWithTag и предотвращение утечек памяти при преждевременном завершении потока до доставки APC.</a:t>
            </a:r>
          </a:p>
          <a:p>
            <a:pPr>
              <a:spcAft>
                <a:spcPts val="600"/>
              </a:spcAft>
              <a:defRPr sz="1050" b="1">
                <a:solidFill>
                  <a:srgbClr val="10B981"/>
                </a:solidFill>
                <a:latin typeface="Segoe UI"/>
              </a:defRPr>
            </a:pPr>
            <a:r>
              <a:t>• 0x109 (CRITICAL_STRUCTURE_CORRUPTION): </a:t>
            </a:r>
            <a:r>
              <a:rPr b="0">
                <a:solidFill>
                  <a:srgbClr val="94A3B8"/>
                </a:solidFill>
              </a:rPr>
              <a:t>Отсутствие статических перехватов (Zero Static Hooks); все манипуляции используют нативные AVL-таблицы и безопасные структуры ядра.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8. Экспериментальная Верификация и Результаты Тестов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33832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🧪 GoogleTest (73/73)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828800"/>
            <a:ext cx="3108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100% Успешно (11 сьютов):</a:t>
            </a:r>
            <a:br/>
            <a:r>
              <a:t>• IoctlTest (6/6)</a:t>
            </a:r>
            <a:br/>
            <a:r>
              <a:t>• PageEngineTest (7/7)</a:t>
            </a:r>
            <a:br/>
            <a:r>
              <a:t>• FuzzingTest (6/6)</a:t>
            </a:r>
            <a:br/>
            <a:r>
              <a:t>• StressTest (6/6 — 16 потоков)</a:t>
            </a:r>
            <a:br/>
            <a:r>
              <a:t>• MmuPagingTest (13/13)</a:t>
            </a:r>
            <a:br/>
            <a:r>
              <a:t>• StealthTest (4/4)</a:t>
            </a:r>
            <a:br/>
            <a:r>
              <a:t>• MmuAdvancedTest (2/2)</a:t>
            </a:r>
            <a:br/>
            <a:r>
              <a:t>• VirtualMmuTest (12/12)</a:t>
            </a:r>
            <a:br/>
            <a:r>
              <a:t>• KstdTest (5/5)</a:t>
            </a:r>
            <a:br/>
            <a:r>
              <a:t>• SharedMemoryChannelTest (6/6)</a:t>
            </a:r>
            <a:br/>
            <a:r>
              <a:t>• ClientIntegrationTest (6/6)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371600"/>
            <a:ext cx="33832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🐍 Python &amp; Fuzzing (8/8)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1828800"/>
            <a:ext cx="3108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Автоматизация и аудит:</a:t>
            </a:r>
            <a:br/>
            <a:r>
              <a:t>• test_python_tools.py (8/8)</a:t>
            </a:r>
            <a:br/>
            <a:r>
              <a:t>• fuzz_runner.py:</a:t>
            </a:r>
            <a:br/>
            <a:r>
              <a:t>  65 граничных векторов +</a:t>
            </a:r>
            <a:br/>
            <a:r>
              <a:t>  1000 случайных мутаций (0 сбоев)</a:t>
            </a:r>
            <a:br/>
            <a:r>
              <a:t>• verify_pe.py:</a:t>
            </a:r>
            <a:br/>
            <a:r>
              <a:t>  - Native Driver Subsystem</a:t>
            </a:r>
            <a:br/>
            <a:r>
              <a:t>  - ASLR (DynamicBase): True</a:t>
            </a:r>
            <a:br/>
            <a:r>
              <a:t>  - DEP/NX (NXCompat): True</a:t>
            </a:r>
            <a:br/>
            <a:r>
              <a:t>  - Control Flow Guard: True</a:t>
            </a:r>
            <a:br/>
            <a:r>
              <a:t>  - Checksum: 0x1167d (Valid)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371600"/>
            <a:ext cx="3383280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50876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Segoe UI"/>
              </a:defRPr>
            </a:pPr>
            <a:r>
              <a:t>🚀 GitHub CI Matrix (6/6)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79" y="1828800"/>
            <a:ext cx="3108960" cy="411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F0F6FC"/>
                </a:solidFill>
              </a:defRPr>
            </a:pPr>
            <a:r>
              <a:t>Пайплайн GitHub Actions:</a:t>
            </a:r>
            <a:br/>
            <a:r>
              <a:t>• MSVC Release: SUCCESS</a:t>
            </a:r>
            <a:br/>
            <a:r>
              <a:t>• MSVC Debug: SUCCESS</a:t>
            </a:r>
            <a:br/>
            <a:r>
              <a:t>• Clang-CL Release: SUCCESS</a:t>
            </a:r>
            <a:br/>
            <a:r>
              <a:t>• Clang-CL Debug: SUCCESS</a:t>
            </a:r>
            <a:br/>
            <a:r>
              <a:t>• Python Automation: SUCCESS</a:t>
            </a:r>
            <a:br/>
            <a:r>
              <a:t>• Code Integrity: SUCCESS</a:t>
            </a:r>
            <a:br/>
            <a:br/>
            <a:r>
              <a:t>Криптографическая подпись:</a:t>
            </a:r>
            <a:br/>
            <a:r>
              <a:t>100% коммитов ветки подписаны Ed25519 ключом со статусом GitHub Verified.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UNPD АКАДЕМИЧЕСКАЯ ЗАЩИТА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  <a:latin typeface="Segoe UI"/>
              </a:defRPr>
            </a:pPr>
            <a:r>
              <a:t>9. Заключение и Научно-Практическая Ценность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1280160"/>
            <a:ext cx="10362895" cy="4846320"/>
          </a:xfrm>
          <a:prstGeom prst="roundRect">
            <a:avLst/>
          </a:prstGeom>
          <a:solidFill>
            <a:srgbClr val="161B22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1645920"/>
            <a:ext cx="96012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1300" b="1">
                <a:solidFill>
                  <a:srgbClr val="10B981"/>
                </a:solidFill>
                <a:latin typeface="Segoe UI"/>
              </a:defRPr>
            </a:pPr>
            <a:r>
              <a:t>КЛЮЧЕВЫЕ НАУЧНО-ИНЖЕНЕРНЫЕ ДОСТИЖЕНИЯ ПРОЕКТА</a:t>
            </a:r>
          </a:p>
          <a:p>
            <a:pPr>
              <a:spcAft>
                <a:spcPts val="4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1. Академическая выверенность и стандартизация:</a:t>
            </a:r>
            <a:br/>
            <a:r>
              <a:rPr b="0">
                <a:solidFill>
                  <a:srgbClr val="94A3B8"/>
                </a:solidFill>
              </a:rPr>
              <a:t>  Создан законченный, строгий C++20 шаблон драйвера ядра Windows x64 с полиморфной архитектурой памяти, пригодный для тиражирования и учебных/исследовательских целей.
</a:t>
            </a:r>
          </a:p>
          <a:p>
            <a:pPr>
              <a:spcAft>
                <a:spcPts val="4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2. Доказанная математическая и системная надежность:</a:t>
            </a:r>
            <a:br/>
            <a:r>
              <a:rPr b="0">
                <a:solidFill>
                  <a:srgbClr val="94A3B8"/>
                </a:solidFill>
              </a:rPr>
              <a:t>  Полная изоляция всех путей исполнения исключает возникновение BSOD при любых воздействиях и сбоях пользовательского режима.
</a:t>
            </a:r>
          </a:p>
          <a:p>
            <a:pPr>
              <a:spcAft>
                <a:spcPts val="4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3. 100% Воспроизводимость в CI без гипервизора:</a:t>
            </a:r>
            <a:br/>
            <a:r>
              <a:rPr b="0">
                <a:solidFill>
                  <a:srgbClr val="94A3B8"/>
                </a:solidFill>
              </a:rPr>
              <a:t>  Эмулятор Virtual MMU Sandbox и Mock Loopback в клиентском SDK позволяют проводить полный цикл тестирования разбора страниц и протоколов в CI без физических ВМ.
</a:t>
            </a:r>
          </a:p>
          <a:p>
            <a:pPr>
              <a:spcAft>
                <a:spcPts val="400"/>
              </a:spcAft>
              <a:defRPr sz="1100" b="1">
                <a:solidFill>
                  <a:srgbClr val="F0F6FC"/>
                </a:solidFill>
                <a:latin typeface="Segoe UI"/>
              </a:defRPr>
            </a:pPr>
            <a:r>
              <a:t>4. Высочайшая производительность:</a:t>
            </a:r>
            <a:br/>
            <a:r>
              <a:rPr b="0">
                <a:solidFill>
                  <a:srgbClr val="94A3B8"/>
                </a:solidFill>
              </a:rPr>
              <a:t>  Субмикросекундный отклик (0.39 µs) и lockless ring-буфер с барьерами MASM64 обеспечивают работу в режиме реального времени.
</a:t>
            </a:r>
          </a:p>
          <a:p>
            <a:pPr>
              <a:spcBef>
                <a:spcPts val="800"/>
              </a:spcBef>
              <a:defRPr sz="1200" b="1">
                <a:solidFill>
                  <a:srgbClr val="06B6D4"/>
                </a:solidFill>
                <a:latin typeface="Segoe UI"/>
              </a:defRPr>
            </a:pPr>
            <a:r>
              <a:t>ДОКЛАД ОКОНЧЕН. СПАСИБО ЗА ВНИМАНИЕ! ГОТОВ К ОТВЕТАМ НА ВОПРОСЫ.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