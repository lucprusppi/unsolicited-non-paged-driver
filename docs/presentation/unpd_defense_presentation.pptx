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62895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DD4BF"/>
                </a:solidFill>
                <a:latin typeface="Calibri"/>
              </a:defRPr>
            </a:pPr>
            <a:r>
              <a:t>НАУЧНО-ИНЖЕНЕРНАЯ ДИССЕРТАЦИОННАЯ ПРЕЗЕНТАЦИЯ</a:t>
            </a:r>
          </a:p>
          <a:p>
            <a:pPr>
              <a:spcAft>
                <a:spcPts val="1800"/>
              </a:spcAft>
              <a:defRPr sz="2600" b="1">
                <a:solidFill>
                  <a:srgbClr val="F8FAFC"/>
                </a:solidFill>
                <a:latin typeface="Calibri"/>
              </a:defRPr>
            </a:pPr>
            <a:r>
              <a:t>Архитектура высоконадежного драйвера ядра Windows x64</a:t>
            </a:r>
            <a:br/>
            <a:r>
              <a:t>на базе стандарта C++20 с полиморфным диспетчером памяти</a:t>
            </a:r>
            <a:br/>
            <a:r>
              <a:t>и 4-уровневой моделью трансляции MMU</a:t>
            </a:r>
          </a:p>
          <a:p>
            <a:pPr>
              <a:spcAft>
                <a:spcPts val="2400"/>
              </a:spcAft>
              <a:defRPr sz="1300">
                <a:solidFill>
                  <a:srgbClr val="60A5FA"/>
                </a:solidFill>
                <a:latin typeface="Calibri"/>
              </a:defRPr>
            </a:pPr>
            <a:r>
              <a:t>Проект: Unsolicited Non-Paged Driver (UNPD)  |  Специализация: Системное программирование и отказоустойчивые ОС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Докладчик: EvilEmployer  |  Репозиторий: LucPrusPPi/unsolicited-non-paged-driver  |  Ветка: rework/production-kernel-v2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Постановка проблемы и научные цели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ПРОБЛЕМАТИКА ТРАДИЦИОННОЙ РАЗРАБОТКИ ЯДРА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1.1. Небезопасность процедурного C-подхода: </a:t>
            </a:r>
            <a:r>
              <a:rPr b="0">
                <a:solidFill>
                  <a:srgbClr val="94A3B8"/>
                </a:solidFill>
              </a:rPr>
              <a:t>Отсутствие инкапсуляции и деструкторов в традиционном коде ядра влечет риск утечек ресурсов (Pool Leaks) и повторного освобождения (Double Free).</a:t>
            </a:r>
          </a:p>
          <a:p>
            <a:pPr>
              <a:spcAft>
                <a:spcPts val="8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1.2. Ограничения среды исполнения Ring-0: </a:t>
            </a:r>
            <a:r>
              <a:rPr b="0">
                <a:solidFill>
                  <a:srgbClr val="94A3B8"/>
                </a:solidFill>
              </a:rPr>
              <a:t>Аппаратный запрет механизма C++ исключений и RTTI в режиме ядра вынуждает применять небезопасные C-паттерны при обработке системных ошибок.</a:t>
            </a:r>
          </a:p>
          <a:p>
            <a:pPr>
              <a:spcAft>
                <a:spcPts val="8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1.3. Высокая латентность IPC и переключения контекста: </a:t>
            </a:r>
            <a:r>
              <a:rPr b="0">
                <a:solidFill>
                  <a:srgbClr val="94A3B8"/>
                </a:solidFill>
              </a:rPr>
              <a:t>Классический ввод-вывод IRP требует постоянного копирования буферов и смены уровней привилегий, снижая пропускную способность потока данных.</a:t>
            </a:r>
          </a:p>
          <a:p>
            <a:pPr>
              <a:spcAft>
                <a:spcPts val="8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1.4. Сложность автономной верификации без гипервизора: </a:t>
            </a:r>
            <a:r>
              <a:rPr b="0">
                <a:solidFill>
                  <a:srgbClr val="94A3B8"/>
                </a:solidFill>
              </a:rPr>
              <a:t>Отсутствие эмуляции таблиц страниц x86-64 в юзермоде делает модульное тестирование в CI невозможным без физической ВМ и отладчика WinDbg.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НАУЧНО-ИНЖЕНЕРНЫЕ РЕШЕНИЯ ПРОЕКТА UNPD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2.1. Freestanding ядро C++20 (kstd): </a:t>
            </a:r>
            <a:r>
              <a:rPr b="0">
                <a:solidFill>
                  <a:srgbClr val="94A3B8"/>
                </a:solidFill>
              </a:rPr>
              <a:t>Реализация легковесных RAII-контейнеров, умных указателей и монады expected без зависимостей от стандартного C-Runtime ядра.</a:t>
            </a:r>
          </a:p>
          <a:p>
            <a:pPr>
              <a:spcAft>
                <a:spcPts val="8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2.2. Полиморфная стратегия памяти (IMemoryEngine): </a:t>
            </a:r>
            <a:r>
              <a:rPr b="0">
                <a:solidFill>
                  <a:srgbClr val="94A3B8"/>
                </a:solidFill>
              </a:rPr>
              <a:t>Объектно-ориентированная абстракция над MDL Zero-Copy, 4-классовыми Lookaside-кэшами и динамически отслеживаемым NonPagedPoolNx.</a:t>
            </a:r>
          </a:p>
          <a:p>
            <a:pPr>
              <a:spcAft>
                <a:spcPts val="8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2.3. Аппаратно-точный 4-уровневый разбор MMU x86-64: </a:t>
            </a:r>
            <a:r>
              <a:rPr b="0">
                <a:solidFill>
                  <a:srgbClr val="94A3B8"/>
                </a:solidFill>
              </a:rPr>
              <a:t>Алгоритм трансляции CR3 PML4 -&gt; PDPTE -&gt; PDE -&gt; PTE с поддержкой супер-страниц 1GB/2MB и побайтовым чанкингом границ страниц.</a:t>
            </a:r>
          </a:p>
          <a:p>
            <a:pPr>
              <a:spcAft>
                <a:spcPts val="8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2.4. Изолированный 64MB эмулятор Virtual MMU Sandbox: </a:t>
            </a:r>
            <a:r>
              <a:rPr b="0">
                <a:solidFill>
                  <a:srgbClr val="94A3B8"/>
                </a:solidFill>
              </a:rPr>
              <a:t>Модульный стенд в юзермоде для детерминированного тестирования трансляции страниц и аппаратных прерываний #PF в GitHub 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Сквозная архитектурная топология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УРОВЕНЬ ПОЛЬЗОВАТЕЛЬСКОГО РЕЖИМА (USER-MODE CLIENT SDK)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t>• Класс DriverClient: 16 типизированных методов (чтение/запись по CR3, постановка KAPC, очистка PiDDB, выделение MDL, слэб-кэши, пинг)</a:t>
            </a:r>
            <a:br/>
            <a:r>
              <a:t>• Класс SharedRingSession: Высокоуровневый RAII-контейнер lockless кольцевого канала с поддержкой Mock Loopback для автономного CI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6984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УРОВЕНЬ ЯДРА WINDOWS (RING-0 KERNEL DISPATCH &amp; ENGINES)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t>• Диспетчер IRP (16 кодов IOCTL 0x800..0x80F): Полная изоляция в SEH (__try/__except), валидация ProbeForRead/Write, 16MB лимит</a:t>
            </a:r>
            <a:br/>
            <a:r>
              <a:t>• Полиморфный диспетчер памяти IMemoryEngine: MdlMemoryEngine (Zero-Copy), SlabMemoryEngine (Lookaside), PoolMemoryEngine</a:t>
            </a:r>
            <a:br/>
            <a:r>
              <a:t>• Подсистема MMU Paging &amp; Cr3Walker: Прямой 4-уровневый разбор таблиц страниц PML4 -&gt; PDPTE -&gt; PDE -&gt; PTE без прикрепления</a:t>
            </a:r>
            <a:br/>
            <a:r>
              <a:t>• Подсистемы KernelApc и StealthCleaners: Асинхронные APC с Rundown-защитой, AVL-ребалансировка PiDDBCacheTable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663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АППАРАТНО-ЗАВИСИМЫЙ УРОВЕНЬ (MASM64 / HARDWARE PRIMITIVES)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t>• Инвалидация кэшей TLB (invlpg, wbinvd, перезагрузка CR3)  |  Аппаратный SSE4.2 CRC32 (crc32 rax, rdx)  |  Барьеры памяти (mfence, lfence, sfence)</a:t>
            </a:r>
            <a:br/>
            <a:r>
              <a:t>• Прямой доступ к регистрам процессора: CR0..CR8, DR0..DR7, XCR0, IA32_EFER, IDTR, GDTR, TR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Freestanding библиотека компонентов ядра (unpd::kstd)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1. KSTD::SPAN&lt;T&gt; — НЕПРЕРЫВНЫЙ СРЕЗ ПАМЯТИ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Легковесный срез непрерывной памяти без владения и без CRT</a:t>
            </a:r>
            <a:br/>
            <a:r>
              <a:t>• Полная поддержка итераторов (begin, end, rbegin, rend)</a:t>
            </a:r>
            <a:br/>
            <a:r>
              <a:t>• Методы безопасного деления (subspan, first, last) с проверкой границ</a:t>
            </a:r>
            <a:br/>
            <a:r>
              <a:t>• Полная совместимость с ядерными буферами MDL и пулом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2120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2. KSTD::EXPECTED&lt;T, NTSTATUS&gt; — МОНАДА ОШИБОК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Монадический контейнер значения или кода статуса NTSTATUS</a:t>
            </a:r>
            <a:br/>
            <a:r>
              <a:t>• Полная замена механизма C++ исключений, запрещенного в Ring-0</a:t>
            </a:r>
            <a:br/>
            <a:r>
              <a:t>• Методы has_value(), value(), error(), value_or(fallback)</a:t>
            </a:r>
            <a:br/>
            <a:r>
              <a:t>• Специализация kstd::expected&lt;void, E&gt; для статусных процедур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1206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3. KSTD::UNIQUE_PTR&lt;T, TAG&gt; — RAII ПУЛА ЯДРА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Инкапсулирует владение динамическим блоком невыгружаемого пула</a:t>
            </a:r>
            <a:br/>
            <a:r>
              <a:t>• Автоматический вызов ExFreePoolWithTag при выходе из скоупа</a:t>
            </a:r>
            <a:br/>
            <a:r>
              <a:t>• Семантика чистого перемещения (Move-only), запрет копирования</a:t>
            </a:r>
            <a:br/>
            <a:r>
              <a:t>• Исключает утечки пула при ранних возвратах из функций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2120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4. КОНЦЕПТЫ ВРЕМЕНИ КОМПИЛЯЦИИ (C++20 CONCEPTS)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integral&lt;T&gt;: Ограничение шаблонных целочисленных аргументов</a:t>
            </a:r>
            <a:br/>
            <a:r>
              <a:t>• pointer&lt;T&gt;: Статическая валидация указательных типов данных</a:t>
            </a:r>
            <a:br/>
            <a:r>
              <a:t>• same_as&lt;T, U&gt;: Строгая эквивалентность типов в шаблонах</a:t>
            </a:r>
            <a:br/>
            <a:r>
              <a:t>• trivially_copyable&lt;T&gt;: Гарантия безопасности memcpy для структур</a:t>
            </a:r>
            <a:br/>
            <a:r>
              <a:t>• invocable&lt;F, Args...&gt;: Проверка сигнатур callback-функций ядра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Математическая модель трансляции MMU x86-64 и CR3 Walker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СПЕЦИФИКАЦИЯ 4-УРОВНЕВОЙ ТРАНСЛЯЦИИ КАНОНИЧЕСКОГО АДРЕСА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Схема адресации: PML4E [47:39] -&gt; PDPTE [38:30] -&gt; PDE [29:21] -&gt; PTE [20:12] -&gt; Offset [11:0]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Проверка каноничности адреса (IsCanonical): </a:t>
            </a:r>
            <a:r>
              <a:rPr b="0">
                <a:solidFill>
                  <a:srgbClr val="94A3B8"/>
                </a:solidFill>
              </a:rPr>
              <a:t>Верификация знакового расширения 48-го бита на старшие 16 бит. Предотвращает немедленный аппаратный сбой #GP (General Protection Fault) при обработке невалидных адресов.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Трансляция 1GB Huge Pages (PDPTE.LargePage = 1): </a:t>
            </a:r>
            <a:r>
              <a:rPr b="0">
                <a:solidFill>
                  <a:srgbClr val="94A3B8"/>
                </a:solidFill>
              </a:rPr>
              <a:t>Физический адрес = (PDPTE &amp; 0x000FFFFFC0000000) | (VA &amp; 0x3FFFFFFF). Мгновенный расчет физического смещения без обхода нижележащих уровней PDE и PTE.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Трансляция 2MB Large Pages (PDE.LargePage = 1): </a:t>
            </a:r>
            <a:r>
              <a:rPr b="0">
                <a:solidFill>
                  <a:srgbClr val="94A3B8"/>
                </a:solidFill>
              </a:rPr>
              <a:t>Физический адрес = (PDE &amp; 0x000FFFFFFFE00000) | (VA &amp; 0x1FFFFF).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Трансляция 4KB Standard Pages (PTE): </a:t>
            </a:r>
            <a:r>
              <a:rPr b="0">
                <a:solidFill>
                  <a:srgbClr val="94A3B8"/>
                </a:solidFill>
              </a:rPr>
              <a:t>Физический адрес = (PTE &amp; 0x000FFFFFFFFFF000) | (VA &amp; 0xFFF).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Алгоритм Page-Boundary Clamping (Чанкинг границ): </a:t>
            </a:r>
            <a:r>
              <a:rPr b="0">
                <a:solidFill>
                  <a:srgbClr val="94A3B8"/>
                </a:solidFill>
              </a:rPr>
              <a:t>Размер копируемого фрагмента строго ограничен границей текущей 4KB страницы: chunk = min(remaining, 4096 - (VA &amp; 0xFFF)). Полностью исключает выход за пределы страницы в невыделенные физические фреймы.</a:t>
            </a:r>
          </a:p>
          <a:p>
            <a:pPr>
              <a:spcAft>
                <a:spcPts val="600"/>
              </a:spcAft>
              <a:defRPr sz="1050" b="1">
                <a:solidFill>
                  <a:srgbClr val="F8FAFC"/>
                </a:solidFill>
                <a:latin typeface="Calibri"/>
              </a:defRPr>
            </a:pPr>
            <a:r>
              <a:t>• RAII-обертка PhysicalMemoryMapping&lt;T&gt;: </a:t>
            </a:r>
            <a:r>
              <a:rPr b="0">
                <a:solidFill>
                  <a:srgbClr val="94A3B8"/>
                </a:solidFill>
              </a:rPr>
              <a:t>Инкапсулирует пары системных вызовов MmMapIoSpace и MmUnmapIoSpace с гарантированным освобождением маппинга при любых путях выхода из функции.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Кольцевой канал разделяемой памяти и двойная буферизация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АРХИТЕКТУРА КОЛЬЦЕВОГО БУФЕРА И КЭШ-ЛИНИЙ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Разделение кэш-линий alignas(64):</a:t>
            </a:r>
            <a:br/>
            <a:r>
              <a:t>  Указатели RequestHead/Tail и ResponseHead/Tail изолированы по независимым 64-байтовым кэш-линиям, что полностью устраняет деградацию производительности от ложного разделения (False Sharing) между ядрами CPU.</a:t>
            </a:r>
            <a:br/>
            <a:br/>
            <a:r>
              <a:t>• Аппаратные барьеры сериализации памяти:</a:t>
            </a:r>
            <a:br/>
            <a:r>
              <a:t>  - Барьер загрузки: UnpdLoadFence (_mm_lfence)</a:t>
            </a:r>
            <a:br/>
            <a:r>
              <a:t>  - Барьер сохранения: UnpdStoreFence (_mm_sfence)</a:t>
            </a:r>
            <a:br/>
            <a:r>
              <a:t>  - Атомарная смена буферов: UnpdFastSwapBarrier (mfence)</a:t>
            </a:r>
            <a:br/>
            <a:br/>
            <a:r>
              <a:t>• Lockless Ring Wrap-Around:</a:t>
            </a:r>
            <a:br/>
            <a:r>
              <a:t>  Индекс слота вычисляется как slot = tail % CAPACITY с контролем переполнения (head - tail) &gt;= CAPACITY.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ЭКСПЕРИМЕНТАЛЬНЫЕ ЗАДЕРЖКИ (BENCH_LATENCY.PY)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DD4BF"/>
                </a:solidFill>
                <a:latin typeface="Calibri"/>
              </a:defRPr>
            </a:pPr>
            <a:r>
              <a:t>Результаты микропрофилирования (2000 итераций, субмикросекундная точность):</a:t>
            </a:r>
            <a:br/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• IOCTL Ping Roundtrip:</a:t>
            </a:r>
            <a:br/>
            <a:r>
              <a:t>  </a:t>
            </a:r>
            <a:r>
              <a:rPr b="0">
                <a:solidFill>
                  <a:srgbClr val="38BDF8"/>
                </a:solidFill>
              </a:rPr>
              <a:t>Мин: 0.30 µs  |  Среднее: 0.39 µs  |  P95: 0.40 µs  |  P99: 0.60 µs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• Атомарная смена буфера (Swap):</a:t>
            </a:r>
            <a:br/>
            <a:r>
              <a:t>  </a:t>
            </a:r>
            <a:r>
              <a:rPr b="0">
                <a:solidFill>
                  <a:srgbClr val="38BDF8"/>
                </a:solidFill>
              </a:rPr>
              <a:t>Мин: 4.30 µs  |  Среднее: 4.44 µs  |  P95: 4.60 µs  |  P99: 5.10 µs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• Маппинг памяти в ядре (Map):</a:t>
            </a:r>
            <a:br/>
            <a:r>
              <a:t>  </a:t>
            </a:r>
            <a:r>
              <a:rPr b="0">
                <a:solidFill>
                  <a:srgbClr val="38BDF8"/>
                </a:solidFill>
              </a:rPr>
              <a:t>Мин: 0.40 µs  |  Среднее: 0.47 µs  |  P95: 0.50 µs  |  P99: 0.70 µs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• Пропускная способность:</a:t>
            </a:r>
            <a:br/>
            <a:r>
              <a:t>  </a:t>
            </a:r>
            <a:r>
              <a:rPr b="0">
                <a:solidFill>
                  <a:srgbClr val="38BDF8"/>
                </a:solidFill>
              </a:rPr>
              <a:t>Механизм Zero-Copy обеспечивает обмен пакетами на субмикросекундных задержках без переключения IRQL и контекста прерываний.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Полиморфная стратегия управления памятью (IMemoryEngine)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1. MDLMEMORYENGINE (ZERO-COPY MDL)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Выделение физических страниц через MmAllocatePagesForMdlEx</a:t>
            </a:r>
            <a:br/>
            <a:r>
              <a:t>• Отображение в процесс через MmMapLockedPagesSpecifyCache</a:t>
            </a:r>
            <a:br/>
            <a:r>
              <a:t>• Флаг MdlMappingNoExecute (аппаратная защита DEP)</a:t>
            </a:r>
            <a:br/>
            <a:r>
              <a:t>• Безопасный анмаппинг через ProcessAttachmentGuard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2120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2. SLABMEMORYENGINE (LOOKASIDE КЭШИ)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O(1) Lookaside-списки (NPAGED_LOOKASIDE_LIST)</a:t>
            </a:r>
            <a:br/>
            <a:r>
              <a:t>• 4 Класса фиксированных блоков: 64B, 256B, 1024B, 4096B</a:t>
            </a:r>
            <a:br/>
            <a:r>
              <a:t>• Выделенные тэги пула: '1LSU', '2LSU', '3LSU', '4LSU'</a:t>
            </a:r>
            <a:br/>
            <a:r>
              <a:t>• Минимальная фрагментация памяти ядра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1206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3. POOLMEMORYENGINE (TRACKED NONPAGED)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Выделение NonPagedPoolNx через ExAllocatePool2</a:t>
            </a:r>
            <a:br/>
            <a:r>
              <a:t>• Таблица 64-битных дескрипторов аллокаций</a:t>
            </a:r>
            <a:br/>
            <a:r>
              <a:t>• Отслеживание активных аллокаций и глобальная телеметрия</a:t>
            </a:r>
            <a:br/>
            <a:r>
              <a:t>• Полная защита спинлоками KeAcquireSpinLock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2120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4. DIRECTNEITHERENGINE (SEH PROBED)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• Обработка буферов METHOD_NEITHER и METHOD_IN_DIRECT</a:t>
            </a:r>
            <a:br/>
            <a:r>
              <a:t>• Проверка указателей ProbeForRead / ProbeForWrite</a:t>
            </a:r>
            <a:br/>
            <a:r>
              <a:t>• Изоляция всех обращений в блоках __try / __except</a:t>
            </a:r>
            <a:br/>
            <a:r>
              <a:t>• Исключение системных сбоев при краше юзермода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Доказательство отказоустойчивости ядра (Zero-BSOD Invariants)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МАТРИЦА НЕЙТРАЛИЗАЦИИ СИСТЕМНЫХ КОДОВ BUGCHECK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0x0A / 0xD1 (IRQL_NOT_LESS_OR_EQUAL): </a:t>
            </a:r>
            <a:r>
              <a:rPr b="0">
                <a:solidFill>
                  <a:srgbClr val="94A3B8"/>
                </a:solidFill>
              </a:rPr>
              <a:t>Все пулы памяти и структуры данных строго аллоцируются с флагом POOL_FLAG_NON_PAGED. Код, исполняемый на DISPATCH_LEVEL, гарантированно не обращается к выгружаемой (Paged) памяти.</a:t>
            </a:r>
          </a:p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0x1E (KMODE_EXCEPTION_NOT_HANDLED): </a:t>
            </a:r>
            <a:r>
              <a:rPr b="0">
                <a:solidFill>
                  <a:srgbClr val="94A3B8"/>
                </a:solidFill>
              </a:rPr>
              <a:t>Все операции с пользовательскими указателями и чтение дескрипторов защищены Structured Exception Handling (__try / __except (EXCEPTION_EXECUTE_HANDLER)).</a:t>
            </a:r>
          </a:p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0x3B (SYSTEM_SERVICE_EXCEPTION): </a:t>
            </a:r>
            <a:r>
              <a:rPr b="0">
                <a:solidFill>
                  <a:srgbClr val="94A3B8"/>
                </a:solidFill>
              </a:rPr>
              <a:t>Валидация выравнивания адресов и обязательный вызов ProbeForRead / ProbeForWrite перед любым доступом к пользовательским буферам.</a:t>
            </a:r>
          </a:p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0x50 (PAGE_FAULT_IN_NONPAGED_AREA): </a:t>
            </a:r>
            <a:r>
              <a:rPr b="0">
                <a:solidFill>
                  <a:srgbClr val="94A3B8"/>
                </a:solidFill>
              </a:rPr>
              <a:t>Проверка каноничности адреса IsCanonical() и побайтовое ограничение размера каждого трансфера до конца текущей 4KB-страницы (Page-Boundary Clamping).</a:t>
            </a:r>
          </a:p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0x7E (SYSTEM_THREAD_EXCEPTION): </a:t>
            </a:r>
            <a:r>
              <a:rPr b="0">
                <a:solidFill>
                  <a:srgbClr val="94A3B8"/>
                </a:solidFill>
              </a:rPr>
              <a:t>Обработчик KernelApcRundown гарантирует вызов ExFreePoolWithTag и предотвращение утечек памяти при преждевременном завершении потока до доставки APC.</a:t>
            </a:r>
          </a:p>
          <a:p>
            <a:pPr>
              <a:spcAft>
                <a:spcPts val="600"/>
              </a:spcAft>
              <a:defRPr sz="1050" b="1">
                <a:solidFill>
                  <a:srgbClr val="2DD4BF"/>
                </a:solidFill>
                <a:latin typeface="Calibri"/>
              </a:defRPr>
            </a:pPr>
            <a:r>
              <a:t>• 0x109 (CRITICAL_STRUCTURE_CORRUPTION): </a:t>
            </a:r>
            <a:r>
              <a:rPr b="0">
                <a:solidFill>
                  <a:srgbClr val="94A3B8"/>
                </a:solidFill>
              </a:rPr>
              <a:t>Отсутствие статических перехватов (Zero Static Hooks); все манипуляции используют нативные AVL-таблицы ядра.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Результаты экспериментальной верификации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GOOGLETEST (73/73 УСПЕШНО)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100% Успешно (11 сьютов):</a:t>
            </a:r>
            <a:br/>
            <a:r>
              <a:t>• IoctlTest (6/6)</a:t>
            </a:r>
            <a:br/>
            <a:r>
              <a:t>• PageEngineTest (7/7)</a:t>
            </a:r>
            <a:br/>
            <a:r>
              <a:t>• FuzzingTest (6/6)</a:t>
            </a:r>
            <a:br/>
            <a:r>
              <a:t>• StressTest (6/6 — 16 потоков)</a:t>
            </a:r>
            <a:br/>
            <a:r>
              <a:t>• MmuPagingTest (13/13)</a:t>
            </a:r>
            <a:br/>
            <a:r>
              <a:t>• StealthTest (4/4)</a:t>
            </a:r>
            <a:br/>
            <a:r>
              <a:t>• MmuAdvancedTest (2/2)</a:t>
            </a:r>
            <a:br/>
            <a:r>
              <a:t>• VirtualMmuTest (12/12)</a:t>
            </a:r>
            <a:br/>
            <a:r>
              <a:t>• KstdTest (5/5)</a:t>
            </a:r>
            <a:br/>
            <a:r>
              <a:t>• SharedMemoryChannelTest (6/6)</a:t>
            </a:r>
            <a:br/>
            <a:r>
              <a:t>• ClientIntegrationTest (6/6)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3832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173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PYTHON &amp; FUZZING (8/8 УСПЕШНО)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Автоматизация и аудит:</a:t>
            </a:r>
            <a:br/>
            <a:r>
              <a:t>• test_python_tools.py (8/8)</a:t>
            </a:r>
            <a:br/>
            <a:r>
              <a:t>• fuzz_runner.py:</a:t>
            </a:r>
            <a:br/>
            <a:r>
              <a:t>  65 граничных векторов +</a:t>
            </a:r>
            <a:br/>
            <a:r>
              <a:t>  1000 случайных мутаций (0 сбоев)</a:t>
            </a:r>
            <a:br/>
            <a:r>
              <a:t>• verify_pe.py:</a:t>
            </a:r>
            <a:br/>
            <a:r>
              <a:t>  - Native Driver Subsystem</a:t>
            </a:r>
            <a:br/>
            <a:r>
              <a:t>  - ASLR (DynamicBase): True</a:t>
            </a:r>
            <a:br/>
            <a:r>
              <a:t>  - DEP/NX (NXCompat): True</a:t>
            </a:r>
            <a:br/>
            <a:r>
              <a:t>  - Control Flow Guard: True</a:t>
            </a:r>
            <a:br/>
            <a:r>
              <a:t>  - Checksum: 0x1167d (Valid)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338328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173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GITHUB CI MATRIX (6/6 ЗЕЛЕНЫЙ)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Пайплайн GitHub Actions:</a:t>
            </a:r>
            <a:br/>
            <a:r>
              <a:t>• MSVC Release: SUCCESS</a:t>
            </a:r>
            <a:br/>
            <a:r>
              <a:t>• MSVC Debug: SUCCESS</a:t>
            </a:r>
            <a:br/>
            <a:r>
              <a:t>• Clang-CL Release: SUCCESS</a:t>
            </a:r>
            <a:br/>
            <a:r>
              <a:t>• Clang-CL Debug: SUCCESS</a:t>
            </a:r>
            <a:br/>
            <a:r>
              <a:t>• Python Automation: SUCCESS</a:t>
            </a:r>
            <a:br/>
            <a:r>
              <a:t>• Code Integrity: SUCCESS</a:t>
            </a:r>
            <a:br/>
            <a:br/>
            <a:r>
              <a:t>Криптографическая подпись:</a:t>
            </a:r>
            <a:br/>
            <a:r>
              <a:t>100% коммитов ветки подписаны Ed25519 ключом со статусом GitHub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alibri"/>
              </a:defRPr>
            </a:pPr>
            <a:r>
              <a:t>РАЗДЕЛ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Заключение и выводы квалификационной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362895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ОСНОВНЫЕ НАУЧНО-ПРАКТИЧЕСКИЕ РЕЗУЛЬТАТЫ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1. Академическая выверенность и стандартизация:</a:t>
            </a:r>
            <a:br/>
            <a:r>
              <a:rPr b="0">
                <a:solidFill>
                  <a:srgbClr val="94A3B8"/>
                </a:solidFill>
              </a:rPr>
              <a:t>  Разработан строгий C++20 шаблон драйвера ядра Windows x64 с полиморфной архитектурой памяти, пригодный для использования в качестве эталонного фреймворка в академических и исследовательских целях.
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2. Доказанная математическая и системная надежность:</a:t>
            </a:r>
            <a:br/>
            <a:r>
              <a:rPr b="0">
                <a:solidFill>
                  <a:srgbClr val="94A3B8"/>
                </a:solidFill>
              </a:rPr>
              <a:t>  Полная SEH-изоляция и валидация границ исключают возникновение системных сбоев (BSOD) при любых некорректных данных со стороны пользовательского режима.
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3. Полная воспроизводимость верификации без гипервизора:</a:t>
            </a:r>
            <a:br/>
            <a:r>
              <a:rPr b="0">
                <a:solidFill>
                  <a:srgbClr val="94A3B8"/>
                </a:solidFill>
              </a:rPr>
              <a:t>  Эмулятор Virtual MMU Sandbox и Mock Loopback в клиентском SDK позволяют проводить полный цикл тестирования разбора страниц и протоколов в CI без физических ВМ.
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4. Высокая производительность межмодульного взаимодействия:</a:t>
            </a:r>
            <a:br/>
            <a:r>
              <a:rPr b="0">
                <a:solidFill>
                  <a:srgbClr val="94A3B8"/>
                </a:solidFill>
              </a:rPr>
              <a:t>  Субмикросекундный отклик (0.39 µs) и lockless ring-буфер с барьерами MASM64 обеспечивают обработку потока данных в реальном времени.
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  <a:latin typeface="Calibri"/>
              </a:defRPr>
            </a:pPr>
            <a:r>
              <a:t>ДОКЛАД ОКОНЧЕН. СПАСИБО ЗА ВНИМАНИЕ! ГОТОВ К ОТВЕТАМ НА ВОПРОСЫ КОМИССИИ.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